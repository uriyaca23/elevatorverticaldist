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RESEARCH REPORT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13000"/>
            <a:ext cx="10668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B2A47"/>
                </a:solidFill>
                <a:latin typeface="Playfair Display"/>
              </a:rPr>
              <a:t>Elevator Vertical
Distance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318000"/>
            <a:ext cx="1117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E5C76"/>
                </a:solidFill>
                <a:latin typeface="Source Sans Pro"/>
              </a:rPr>
              <a:t>Predicting how far an elevator travelled  —  using only the sensors in your pocket.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927600"/>
            <a:ext cx="2540000" cy="317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334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A47"/>
                </a:solidFill>
                <a:latin typeface="Source Sans Pro"/>
              </a:rPr>
              <a:t>Eyal Yakir   ·   Uriya Cohen-Eliya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6642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Smartphone Inertial &amp; Pressure Sensing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1000"/>
            <a:ext cx="11176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3E5C76"/>
                </a:solidFill>
                <a:latin typeface="Playfair Display"/>
              </a:rPr>
              <a:t>A phone in your pocket. An elevator ride.
How far did you actually travel — vertically?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1000"/>
            <a:ext cx="3606800" cy="304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1000"/>
            <a:ext cx="3606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496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B5651D"/>
                </a:solidFill>
                <a:latin typeface="Playfair Display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3200"/>
            <a:ext cx="31496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2A47"/>
                </a:solidFill>
                <a:latin typeface="Playfair Display"/>
              </a:rPr>
              <a:t>Detect the 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46600"/>
            <a:ext cx="3149600" cy="116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Source Sans Pro"/>
              </a:rPr>
              <a:t>Find when the elevator started and stopped — purely from the IMU.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600" y="2921000"/>
            <a:ext cx="3606800" cy="304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600" y="2921000"/>
            <a:ext cx="3606800" cy="508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1200" y="31496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5A7A5A"/>
                </a:solidFill>
                <a:latin typeface="Playfair Display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200" y="4013200"/>
            <a:ext cx="31496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2A47"/>
                </a:solidFill>
                <a:latin typeface="Playfair Display"/>
              </a:rPr>
              <a:t>Estimate Δh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200" y="4546600"/>
            <a:ext cx="3149600" cy="116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Source Sans Pro"/>
              </a:rPr>
              <a:t>Predict the signed vertical distance (up or down) in metres.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0" y="2921000"/>
            <a:ext cx="3606800" cy="304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0" y="2921000"/>
            <a:ext cx="3606800" cy="508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600" y="31496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A0382F"/>
                </a:solidFill>
                <a:latin typeface="Playfair Display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600" y="4013200"/>
            <a:ext cx="31496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2A47"/>
                </a:solidFill>
                <a:latin typeface="Playfair Display"/>
              </a:rPr>
              <a:t>Quantify 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600" y="4546600"/>
            <a:ext cx="3149600" cy="116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Source Sans Pro"/>
              </a:rPr>
              <a:t>Return a calibrated 90 % confidence interval, not just a point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End-to-End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Two stages, one shared idea: model the physics, then quantify the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40000"/>
            <a:ext cx="1803400" cy="177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40000"/>
            <a:ext cx="1803400" cy="508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4200" y="2717800"/>
            <a:ext cx="1549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7"/>
                </a:solidFill>
                <a:latin typeface="Playfair Display"/>
              </a:rPr>
              <a:t>Sensor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098800"/>
            <a:ext cx="1549400" cy="104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Source Sans Pro"/>
              </a:rPr>
              <a:t>Accelerometer +
pressure (~50–100 Hz)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11400" y="3429000"/>
            <a:ext cx="254000" cy="0"/>
          </a:xfrm>
          <a:prstGeom prst="line">
            <a:avLst/>
          </a:prstGeom>
          <a:ln w="19050">
            <a:solidFill>
              <a:srgbClr val="B56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Triangle 12"/>
          <p:cNvSpPr/>
          <p:nvPr/>
        </p:nvSpPr>
        <p:spPr>
          <a:xfrm rot="5400000">
            <a:off x="2514600" y="3365500"/>
            <a:ext cx="101600" cy="127000"/>
          </a:xfrm>
          <a:prstGeom prst="rtTriangl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16200" y="2540000"/>
            <a:ext cx="1803400" cy="177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6200" y="2540000"/>
            <a:ext cx="18034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717800"/>
            <a:ext cx="1549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7"/>
                </a:solidFill>
                <a:latin typeface="Playfair Display"/>
              </a:rPr>
              <a:t>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98800"/>
            <a:ext cx="1549400" cy="104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Source Sans Pro"/>
              </a:rPr>
              <a:t>Slice ride intervals
up / down / outside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70400" y="3429000"/>
            <a:ext cx="254000" cy="0"/>
          </a:xfrm>
          <a:prstGeom prst="line">
            <a:avLst/>
          </a:prstGeom>
          <a:ln w="19050">
            <a:solidFill>
              <a:srgbClr val="B56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Triangle 18"/>
          <p:cNvSpPr/>
          <p:nvPr/>
        </p:nvSpPr>
        <p:spPr>
          <a:xfrm rot="5400000">
            <a:off x="4673600" y="3365500"/>
            <a:ext cx="101600" cy="127000"/>
          </a:xfrm>
          <a:prstGeom prst="rtTriangl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75200" y="2540000"/>
            <a:ext cx="1803400" cy="177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75200" y="2540000"/>
            <a:ext cx="1803400" cy="508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2200" y="2717800"/>
            <a:ext cx="1549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7"/>
                </a:solidFill>
                <a:latin typeface="Playfair Display"/>
              </a:rPr>
              <a:t>Quality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2200" y="3098800"/>
            <a:ext cx="1549400" cy="104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Source Sans Pro"/>
              </a:rPr>
              <a:t>Per-segment σ
reject low-SNR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29400" y="3429000"/>
            <a:ext cx="254000" cy="0"/>
          </a:xfrm>
          <a:prstGeom prst="line">
            <a:avLst/>
          </a:prstGeom>
          <a:ln w="19050">
            <a:solidFill>
              <a:srgbClr val="B56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ight Triangle 24"/>
          <p:cNvSpPr/>
          <p:nvPr/>
        </p:nvSpPr>
        <p:spPr>
          <a:xfrm rot="5400000">
            <a:off x="6832600" y="3365500"/>
            <a:ext cx="101600" cy="127000"/>
          </a:xfrm>
          <a:prstGeom prst="rtTriangl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34200" y="2540000"/>
            <a:ext cx="1803400" cy="177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34200" y="2540000"/>
            <a:ext cx="1803400" cy="508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1200" y="2717800"/>
            <a:ext cx="1549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7"/>
                </a:solidFill>
                <a:latin typeface="Playfair Display"/>
              </a:rPr>
              <a:t>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1200" y="3098800"/>
            <a:ext cx="1549400" cy="104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Source Sans Pro"/>
              </a:rPr>
              <a:t>Δh + 90 % CI
3 algorithms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88400" y="3429000"/>
            <a:ext cx="254000" cy="0"/>
          </a:xfrm>
          <a:prstGeom prst="line">
            <a:avLst/>
          </a:prstGeom>
          <a:ln w="19050">
            <a:solidFill>
              <a:srgbClr val="B56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Triangle 30"/>
          <p:cNvSpPr/>
          <p:nvPr/>
        </p:nvSpPr>
        <p:spPr>
          <a:xfrm rot="5400000">
            <a:off x="8991600" y="3365500"/>
            <a:ext cx="101600" cy="127000"/>
          </a:xfrm>
          <a:prstGeom prst="rtTriangl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3200" y="2540000"/>
            <a:ext cx="1803400" cy="177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3200" y="2540000"/>
            <a:ext cx="1803400" cy="508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0200" y="2717800"/>
            <a:ext cx="1549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7"/>
                </a:solidFill>
                <a:latin typeface="Playfair Display"/>
              </a:rPr>
              <a:t>Calibration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0200" y="3098800"/>
            <a:ext cx="1549400" cy="104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Source Sans Pro"/>
              </a:rPr>
              <a:t>Split-conformal
coverage guarantee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752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" y="4775200"/>
            <a:ext cx="1016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A47"/>
                </a:solidFill>
                <a:latin typeface="Source Sans Pro"/>
              </a:rPr>
              <a:t>Per-ride signed Δh in metres with calibrated [Δh – δ , Δh + δ] interval.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Multi-phone simultaneous recording across seven elevators in three cities.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78000"/>
            <a:ext cx="21336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78000"/>
            <a:ext cx="21336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9558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5651D"/>
                </a:solidFill>
                <a:latin typeface="Playfair Display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565400"/>
            <a:ext cx="1828800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Elevators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778000"/>
            <a:ext cx="21336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778000"/>
            <a:ext cx="21336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5600" y="19558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5651D"/>
                </a:solidFill>
                <a:latin typeface="Playfair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600" y="2565400"/>
            <a:ext cx="1828800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Buildings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778000"/>
            <a:ext cx="21336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778000"/>
            <a:ext cx="21336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600" y="19558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5651D"/>
                </a:solidFill>
                <a:latin typeface="Playfair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600" y="2565400"/>
            <a:ext cx="1828800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Cities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778000"/>
            <a:ext cx="21336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778000"/>
            <a:ext cx="21336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7600" y="19558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5651D"/>
                </a:solidFill>
                <a:latin typeface="Playfair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7600" y="2565400"/>
            <a:ext cx="1828800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Phones / ride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778000"/>
            <a:ext cx="21336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778000"/>
            <a:ext cx="21336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3600" y="19558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5651D"/>
                </a:solidFill>
                <a:latin typeface="Playfair Display"/>
              </a:rPr>
              <a:t>397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3600" y="2565400"/>
            <a:ext cx="1828800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Labelled rides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020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Buildings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06800"/>
            <a:ext cx="1270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592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Millenium Hotel —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7592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Ra'anana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0640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Millenium — Outside elevator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0640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Ra'anana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3688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Acro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3688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Ra'anana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6736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Beit Mansour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6736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Ra'anana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9784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Beit Yitzchaki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9784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Ra'anana   ·   held-out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832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BarIlan-2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2832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Herzliya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5880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Haari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5880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Ramat Gan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0000" y="3302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Protocol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20000" y="3606800"/>
            <a:ext cx="1270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20000" y="38608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97800" y="37592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All four phones recording in sync (one in each pocket).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20000" y="42418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97800" y="41402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Ride pattern: full traversal up, then descent.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20000" y="46228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97800" y="45212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Stationary windows before and after each ride for gravity calibration.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20000" y="50038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97800" y="49022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Barometer (where available) provides ground-truth altitude via ISA inversion.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20000" y="53848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7800" y="52832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Beit Yitzchaki withheld as test set — never seen during 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Storyline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Where this hour will take 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78000"/>
            <a:ext cx="54610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78000"/>
            <a:ext cx="50800" cy="11684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762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5651D"/>
                </a:solidFill>
                <a:latin typeface="Playfai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05000"/>
            <a:ext cx="431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A47"/>
                </a:solidFill>
                <a:latin typeface="Playfair Display"/>
              </a:rPr>
              <a:t>Physics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431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Jerk-limited S-curves and what an elevator looks like to an IMU.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3800" y="1778000"/>
            <a:ext cx="54610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3800" y="1778000"/>
            <a:ext cx="50800" cy="11684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2400" y="1930400"/>
            <a:ext cx="762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E5C76"/>
                </a:solidFill>
                <a:latin typeface="Playfair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8200" y="1905000"/>
            <a:ext cx="431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A47"/>
                </a:solidFill>
                <a:latin typeface="Playfair Display"/>
              </a:rPr>
              <a:t>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8200" y="2286000"/>
            <a:ext cx="431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Matched-filter pair detection on the accelerometer; F1, IoU.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24200"/>
            <a:ext cx="54610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24200"/>
            <a:ext cx="50800" cy="11684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76600"/>
            <a:ext cx="762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5A7A5A"/>
                </a:solidFill>
                <a:latin typeface="Playfair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51200"/>
            <a:ext cx="431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A47"/>
                </a:solidFill>
                <a:latin typeface="Playfair Display"/>
              </a:rPr>
              <a:t>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32200"/>
            <a:ext cx="431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Three algorithms to predict Δh: barometer, ZUPT, trapezoid pulse-pair.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3800" y="3124200"/>
            <a:ext cx="54610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3800" y="3124200"/>
            <a:ext cx="50800" cy="11684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2400" y="3276600"/>
            <a:ext cx="762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0382F"/>
                </a:solidFill>
                <a:latin typeface="Playfair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8200" y="3251200"/>
            <a:ext cx="431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A47"/>
                </a:solidFill>
                <a:latin typeface="Playfair Display"/>
              </a:rPr>
              <a:t>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8200" y="3632200"/>
            <a:ext cx="431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Per-segment σ, quality filter, split-conformal calibration.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70400"/>
            <a:ext cx="54610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470400"/>
            <a:ext cx="50800" cy="11684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622800"/>
            <a:ext cx="762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5651D"/>
                </a:solidFill>
                <a:latin typeface="Playfair Display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597400"/>
            <a:ext cx="431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A47"/>
                </a:solidFill>
                <a:latin typeface="Playfair Display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978400"/>
            <a:ext cx="431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Held-out: 89.4 % within ±1.5 m, MAE 1.49 m, median 0.30 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3800" y="4470400"/>
            <a:ext cx="5461000" cy="11684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73800" y="4470400"/>
            <a:ext cx="50800" cy="11684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2400" y="4622800"/>
            <a:ext cx="762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E5C76"/>
                </a:solidFill>
                <a:latin typeface="Playfair Display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8200" y="4597400"/>
            <a:ext cx="431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A47"/>
                </a:solidFill>
                <a:latin typeface="Playfair Display"/>
              </a:rPr>
              <a:t>Product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8200" y="4978400"/>
            <a:ext cx="431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Boutique pipeline — a Streamlit wizard producing a Hebrew PDF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Building Heights — Diversity of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Total traversable height per elevator. Spans short residential to multi-storey hotel.</a:t>
            </a:r>
          </a:p>
        </p:txBody>
      </p:sp>
      <p:pic>
        <p:nvPicPr>
          <p:cNvPr id="8" name="Picture 7" descr="p003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778000"/>
            <a:ext cx="10160000" cy="44216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690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Source Sans Pro"/>
              </a:rPr>
              <a:t>Fig.  Sum of signed Δh across all rides per elevator.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B2A47"/>
                </a:solidFill>
                <a:latin typeface="Playfair Display"/>
              </a:rPr>
              <a:t>Act II  ·  Physics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1000" y="3873500"/>
            <a:ext cx="1270000" cy="381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91000"/>
            <a:ext cx="1219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4A4A4A"/>
                </a:solidFill>
                <a:latin typeface="Source Sans Pro"/>
              </a:rPr>
              <a:t>How elevators look to an inertial sensor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Elevator Kinematics — A Jerk-Limited S-Curve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07</a:t>
            </a:r>
          </a:p>
        </p:txBody>
      </p:sp>
      <p:pic>
        <p:nvPicPr>
          <p:cNvPr id="7" name="Picture 6" descr="p013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6604000" cy="43869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0" y="1651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What the IMU sees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0" y="19558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0" y="22098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Velocity v(t)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24892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Smooth S-curve — no kink at peak.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0" y="29718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Acceleration a(t)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32512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Two trapezoid lobes — one positive, one negative.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37338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Jerk j(t) = 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40132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Bounded; this is what makes the ride comfortable.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0" y="44958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Gravity dominates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47752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|a| ≪ g. Subtract gravity carefully or estimates blow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Seven Phases of an Ideal 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08</a:t>
            </a:r>
          </a:p>
        </p:txBody>
      </p:sp>
      <p:pic>
        <p:nvPicPr>
          <p:cNvPr id="7" name="Picture 6" descr="p012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651000"/>
            <a:ext cx="10414000" cy="62383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690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Source Sans Pro"/>
              </a:rPr>
              <a:t>Fig.  Velocity (top) and acceleration (bottom) versus time. The seven phases mirror the jerk profile.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The Trapezoid Template — What We Actually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09</a:t>
            </a:r>
          </a:p>
        </p:txBody>
      </p:sp>
      <p:pic>
        <p:nvPicPr>
          <p:cNvPr id="7" name="Picture 6" descr="p017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6604000" cy="50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0" y="1651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Why a trapezoid?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0" y="19558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0" y="2159000"/>
            <a:ext cx="4064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A perfect ride produces an acceleration profile composed of two trapezoid lobes: positive at start, negative at end.
We replace the smooth S-curve with this idealised shape. Three free parameters per lobe: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0" y="3683000"/>
            <a:ext cx="762000" cy="3556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0" y="3683000"/>
            <a:ext cx="50800" cy="3556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0" y="37338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a₀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41148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Source Sans Pro"/>
              </a:rPr>
              <a:t>plateau amplitude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0" y="4394200"/>
            <a:ext cx="762000" cy="3556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0" y="4394200"/>
            <a:ext cx="50800" cy="3556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7000" y="44450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τ_r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0" y="48260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Source Sans Pro"/>
              </a:rPr>
              <a:t>ramp duration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0" y="5105400"/>
            <a:ext cx="762000" cy="3556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0" y="5105400"/>
            <a:ext cx="50800" cy="3556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7000" y="51562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τ_p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0" y="55372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Source Sans Pro"/>
              </a:rPr>
              <a:t>plateau duration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B2A47"/>
                </a:solidFill>
                <a:latin typeface="Playfair Display"/>
              </a:rPr>
              <a:t>Act III  · 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1000" y="3873500"/>
            <a:ext cx="1270000" cy="381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91000"/>
            <a:ext cx="1219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4A4A4A"/>
                </a:solidFill>
                <a:latin typeface="Source Sans Pro"/>
              </a:rPr>
              <a:t>Finding ride intervals on the IMU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Matched-Filter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10</a:t>
            </a:r>
          </a:p>
        </p:txBody>
      </p:sp>
      <p:pic>
        <p:nvPicPr>
          <p:cNvPr id="7" name="Picture 6" descr="p018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6858000" cy="27113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000" y="1651000"/>
            <a:ext cx="4064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E5C76"/>
                </a:solidFill>
                <a:latin typeface="Playfair Display"/>
              </a:rPr>
              <a:t>Cross-correlate the
ideal pulse with the
measured signal.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74000" y="28829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51800" y="27940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Sweep a single trapezoid template across the time series.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74000" y="33401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1800" y="32512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Output: response score r(t) — high where the shape matches.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74000" y="37973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1800" y="37084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Adaptive threshold τ on r(t) yields candidate ride starts/ends.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74000" y="42545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1800" y="41656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Coarse first pass over a grid of τ_r, τ_p, a₀ values.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Pair Filter — Eliminating False Lobes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11</a:t>
            </a:r>
          </a:p>
        </p:txBody>
      </p:sp>
      <p:pic>
        <p:nvPicPr>
          <p:cNvPr id="7" name="Picture 6" descr="p024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651000"/>
            <a:ext cx="10414000" cy="23803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445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3E5C76"/>
                </a:solidFill>
                <a:latin typeface="Source Sans Pro"/>
              </a:rPr>
              <a:t>Each ride must have BOTH a positive and a negative lobe within a sensible time window.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80000"/>
            <a:ext cx="3556000" cy="1016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080000"/>
            <a:ext cx="50800" cy="10160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2070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5651D"/>
                </a:solidFill>
                <a:latin typeface="Playfair Display"/>
              </a:rPr>
              <a:t>Positive lobe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11800"/>
            <a:ext cx="3175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Source Sans Pro"/>
              </a:rPr>
              <a:t>Acceleration phase
— elevator speeds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5080000"/>
            <a:ext cx="3556000" cy="1016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5080000"/>
            <a:ext cx="50800" cy="10160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52070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7A5A"/>
                </a:solidFill>
                <a:latin typeface="Playfair Display"/>
              </a:rPr>
              <a:t>Plateau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5511800"/>
            <a:ext cx="3175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Source Sans Pro"/>
              </a:rPr>
              <a:t>Coasting at constant speed
— skipped by the filter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8800" y="5080000"/>
            <a:ext cx="3556000" cy="1016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8800" y="5080000"/>
            <a:ext cx="50800" cy="10160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7400" y="52070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A0382F"/>
                </a:solidFill>
                <a:latin typeface="Playfair Display"/>
              </a:rPr>
              <a:t>Negative lobe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7400" y="5511800"/>
            <a:ext cx="3175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Source Sans Pro"/>
              </a:rPr>
              <a:t>Deceleration phase
— elevator slows down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Detection 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Stable across the held-out building. IoU-aware metrics confirm tight ride bounds.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2000"/>
            <a:ext cx="5334000" cy="37592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32000"/>
            <a:ext cx="5334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260600"/>
            <a:ext cx="4724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A47"/>
                </a:solidFill>
                <a:latin typeface="Playfair Display"/>
              </a:rPr>
              <a:t>TRAIN  ·  5 buildings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94000"/>
            <a:ext cx="4724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B5651D"/>
                </a:solidFill>
                <a:latin typeface="Playfair Display"/>
              </a:rPr>
              <a:t>0.813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708400"/>
            <a:ext cx="472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Source Sans Pro"/>
              </a:rPr>
              <a:t>F1*  (best operating point)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191000"/>
            <a:ext cx="4724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3E5C76"/>
                </a:solidFill>
                <a:latin typeface="Playfair Display"/>
              </a:rPr>
              <a:t>0.642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105400"/>
            <a:ext cx="472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Source Sans Pro"/>
              </a:rPr>
              <a:t>IoU-F1 @ 0.5 — ride-bound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32000"/>
            <a:ext cx="5334000" cy="37592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032000"/>
            <a:ext cx="5334000" cy="508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5600" y="2260600"/>
            <a:ext cx="4724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A47"/>
                </a:solidFill>
                <a:latin typeface="Playfair Display"/>
              </a:rPr>
              <a:t>TEST  ·  Beit Yitzchaki  (held out)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2794000"/>
            <a:ext cx="4724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5A7A5A"/>
                </a:solidFill>
                <a:latin typeface="Playfair Display"/>
              </a:rPr>
              <a:t>0.875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3708400"/>
            <a:ext cx="472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Source Sans Pro"/>
              </a:rPr>
              <a:t>F1*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4191000"/>
            <a:ext cx="4724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5A7A5A"/>
                </a:solidFill>
                <a:latin typeface="Playfair Display"/>
              </a:rPr>
              <a:t>0.830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5105400"/>
            <a:ext cx="472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Source Sans Pro"/>
              </a:rPr>
              <a:t>IoU-F1 @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Source Sans Pro"/>
              </a:rPr>
              <a:t>F1* is the F1 at the optimal threshold; IoU-F1@0.5 requires ≥ 0.5 overlap with the GT interval.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Failure Modes — Where Detection Slips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13</a:t>
            </a:r>
          </a:p>
        </p:txBody>
      </p:sp>
      <p:pic>
        <p:nvPicPr>
          <p:cNvPr id="7" name="Picture 6" descr="p029_i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6858000" cy="29293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000" y="1651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What goes wrong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874000" y="19558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74000" y="2273300"/>
            <a:ext cx="50800" cy="508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1800" y="22098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Walking confusion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1800" y="24892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Steady gait amplitude can mimic an acceleration lobe.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74000" y="3086100"/>
            <a:ext cx="50800" cy="508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1800" y="30226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Short rides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800" y="33020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1–2 floor traversal: lobes overlap, no plateau.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4000" y="3898900"/>
            <a:ext cx="50800" cy="508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1800" y="38354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Phone re-orientation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1800" y="41148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Pocket repositioning produces a transient impulse.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74000" y="4711700"/>
            <a:ext cx="50800" cy="508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1800" y="46482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Building harmonics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1800" y="4927600"/>
            <a:ext cx="406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Older shafts add 1–3 Hz oscillation atop the pulse.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How Tight Are the Ride Bounds?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14</a:t>
            </a:r>
          </a:p>
        </p:txBody>
      </p:sp>
      <p:pic>
        <p:nvPicPr>
          <p:cNvPr id="7" name="Picture 6" descr="p031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651000"/>
            <a:ext cx="10414000" cy="3786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69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4A4A4A"/>
                </a:solidFill>
                <a:latin typeface="Source Sans Pro"/>
              </a:rPr>
              <a:t>Distribution of IoU between detected and ground-truth ride intervals. Modes near 0.85 — bounds are tight.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B2A47"/>
                </a:solidFill>
                <a:latin typeface="Playfair Display"/>
              </a:rPr>
              <a:t>Act IV  · 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1000" y="3873500"/>
            <a:ext cx="1270000" cy="381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91000"/>
            <a:ext cx="1219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4A4A4A"/>
                </a:solidFill>
                <a:latin typeface="Source Sans Pro"/>
              </a:rPr>
              <a:t>Three algorithms for vertical distance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Three Algorithms for Δh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Each leverages different physics. We use whichever the phone can support.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78000"/>
            <a:ext cx="3556000" cy="406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78000"/>
            <a:ext cx="3556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066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Barometric 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30988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Pressure → ISA altitude inversion.
Needs a barometer (≈ 60 % of phones). Cleanest signal — used as ground truth where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207000"/>
            <a:ext cx="3098800" cy="4572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52832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B5651D"/>
                </a:solidFill>
                <a:latin typeface="Playfair Display"/>
              </a:rPr>
              <a:t>Δh = h_ISA(p₂) − h_ISA(p₁)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0" y="1778000"/>
            <a:ext cx="3556000" cy="406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8000" y="1778000"/>
            <a:ext cx="3556000" cy="508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6600" y="20066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E5C76"/>
                </a:solidFill>
                <a:latin typeface="Playfair Display"/>
              </a:rPr>
              <a:t>ZUPT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600" y="2514600"/>
            <a:ext cx="30988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Subtract gravity, integrate twice.
Zero-velocity-update at start/end pins drift. Works on every phone but accumulates noise.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6600" y="5207000"/>
            <a:ext cx="3098800" cy="4572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800" y="52832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3E5C76"/>
                </a:solidFill>
                <a:latin typeface="Playfair Display"/>
              </a:rPr>
              <a:t>Δh = ∬ aᵥ(t) dt² ,  with ZUPT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8800" y="1778000"/>
            <a:ext cx="3556000" cy="406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8800" y="1778000"/>
            <a:ext cx="3556000" cy="508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7400" y="20066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A7A5A"/>
                </a:solidFill>
                <a:latin typeface="Playfair Display"/>
              </a:rPr>
              <a:t>Trapezoid pulse-pair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7400" y="2514600"/>
            <a:ext cx="30988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Fit the seven-segment trapezoid template to the measured acceleration.
Closed-form Δh from plateau parameters; robust to baseline drift.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07400" y="5207000"/>
            <a:ext cx="3098800" cy="4572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3600" y="52832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5A7A5A"/>
                </a:solidFill>
                <a:latin typeface="Playfair Display"/>
              </a:rPr>
              <a:t>Δh = a₀ τ_p (τ_r + τ_p)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ZUPT — Double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16</a:t>
            </a:r>
          </a:p>
        </p:txBody>
      </p:sp>
      <p:pic>
        <p:nvPicPr>
          <p:cNvPr id="7" name="Picture 6" descr="p039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7112000" cy="4307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000" y="1651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Zero-Velocity Update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874000" y="19558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0" y="22860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Playfair Display"/>
              </a:rPr>
              <a:t>Step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0" y="2286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Subtract gravity using stationary pre/post windows.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29210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Playfair Display"/>
              </a:rPr>
              <a:t>Step 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0" y="2921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Integrate vertical acceleration → velocity v(t).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0" y="35560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Playfair Display"/>
              </a:rPr>
              <a:t>Step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3556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Pin v(0) = v(T) = 0 — both endpoints are stationary.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000" y="41910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Playfair Display"/>
              </a:rPr>
              <a:t>Step 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000" y="4191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Integrate v(t) → Δh.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74000" y="4826000"/>
            <a:ext cx="4064000" cy="1270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4000" y="4927600"/>
            <a:ext cx="406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Source Sans Pro"/>
              </a:rPr>
              <a:t>Drift cancels at the endpoints; bias from any residual gravity error scales with T².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Trapezoid Pulse-Pair — Shared-Shape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17</a:t>
            </a:r>
          </a:p>
        </p:txBody>
      </p:sp>
      <p:pic>
        <p:nvPicPr>
          <p:cNvPr id="7" name="Picture 6" descr="p043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7112000" cy="4307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000" y="1651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Why share parameters?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7874000" y="19558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0" y="2209800"/>
            <a:ext cx="4064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A real elevator uses the same jerk profile to accelerate and to decelerate. So both lobes share τ_r and a₀, with sign-flipped polarity.
Joint least-squares over the pair halves the parameter count and doubles the effective SNR.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74000" y="4826000"/>
            <a:ext cx="4064000" cy="762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74000" y="4826000"/>
            <a:ext cx="50800" cy="7620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6400" y="4978400"/>
            <a:ext cx="39116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1">
                <a:solidFill>
                  <a:srgbClr val="B5651D"/>
                </a:solidFill>
                <a:latin typeface="Playfair Display"/>
              </a:rPr>
              <a:t>Δh = a₀ · τ_p · (τ_r + τ_p)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Joined Pulse — When Rides Are Too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18</a:t>
            </a:r>
          </a:p>
        </p:txBody>
      </p:sp>
      <p:pic>
        <p:nvPicPr>
          <p:cNvPr id="7" name="Picture 6" descr="p044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7112000" cy="52801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000" y="1651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Short-ride regime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874000" y="19558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0" y="2209800"/>
            <a:ext cx="4064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On 1–2 floor rides the cabin reaches maximum speed only briefly — or never reaches it at all. The two lobes overlap.
We collapse to a single joined-pulse model with no plateau: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74000" y="4064000"/>
            <a:ext cx="4064000" cy="7112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74000" y="4064000"/>
            <a:ext cx="50800" cy="7112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6400" y="4216400"/>
            <a:ext cx="39116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1">
                <a:solidFill>
                  <a:srgbClr val="5A7A5A"/>
                </a:solidFill>
                <a:latin typeface="Playfair Display"/>
              </a:rPr>
              <a:t>Δh = ½ · a₀ · τ_r²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0" y="4978400"/>
            <a:ext cx="406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Source Sans Pro"/>
              </a:rPr>
              <a:t>Detection switches between the two automatically based on plateau length τ_p.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Per-Segment σ and the Quality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Not every ride is equally informative. We compute a closed-form noise estimate per segment and reject the worst.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5000"/>
            <a:ext cx="5334000" cy="3429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05000"/>
            <a:ext cx="50800" cy="34290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133600"/>
            <a:ext cx="4826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Closed-form per-segment 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5400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B2A47"/>
                </a:solidFill>
                <a:latin typeface="Source Sans Pro"/>
              </a:rPr>
              <a:t>σ_Δh²  =  σ_a²  ·  ∂Δh/∂a₀  +  σ_τr² · ∂Δh/∂τ_r  +  σ_τp² · ∂Δh/∂τ_p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8702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2004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B2A47"/>
                </a:solidFill>
                <a:latin typeface="Source Sans Pro"/>
              </a:rPr>
              <a:t>Each ∂Δh/∂θᵢ from the trapezoid Jacobian.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5306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8608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B2A47"/>
                </a:solidFill>
                <a:latin typeface="Source Sans Pro"/>
              </a:rPr>
              <a:t>Sensor noise σ_a estimated from the pre-stationary window.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1910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5212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B2A47"/>
                </a:solidFill>
                <a:latin typeface="Source Sans Pro"/>
              </a:rPr>
              <a:t>Geometry noise σ_τ from CRB on the matched-filter response.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1905000"/>
            <a:ext cx="533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Quality rule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0" y="22606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0" y="248920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Drop any prediction whose σ_Δh exceeds 1.5 m  —  these are
rides where the model itself says “I'm uncertain”.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0" y="3429000"/>
            <a:ext cx="2540000" cy="152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0" y="3429000"/>
            <a:ext cx="2540000" cy="508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0" y="3759200"/>
            <a:ext cx="20828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5A7A5A"/>
                </a:solidFill>
                <a:latin typeface="Playfair Display"/>
              </a:rPr>
              <a:t>≈ 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600" y="4546600"/>
            <a:ext cx="2082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Source Sans Pro"/>
              </a:rPr>
              <a:t>of rides flagged &amp; dropped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0000" y="3429000"/>
            <a:ext cx="2540000" cy="152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90000" y="3429000"/>
            <a:ext cx="2540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8600" y="3759200"/>
            <a:ext cx="20828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B5651D"/>
                </a:solidFill>
                <a:latin typeface="Playfair Display"/>
              </a:rPr>
              <a:t>≈ 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8600" y="4546600"/>
            <a:ext cx="2082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Source Sans Pro"/>
              </a:rPr>
              <a:t>MAE reduction on the rest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Split-Conformal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Per-segment σ gives a Gaussian-tail interval — but the residuals aren't Gaussian. We re-calibrate.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2000"/>
            <a:ext cx="2540000" cy="2921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32000"/>
            <a:ext cx="2540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60600"/>
            <a:ext cx="218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1. Hold-out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768600"/>
            <a:ext cx="21844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Reserve 20 % of training rides as a calibration split.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1200" y="2032000"/>
            <a:ext cx="2540000" cy="2921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51200" y="2032000"/>
            <a:ext cx="2540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60600"/>
            <a:ext cx="218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2. Score residuals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768600"/>
            <a:ext cx="21844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On the calibration split, compute |Δh − Δĥ| / σ̂.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5200" y="2032000"/>
            <a:ext cx="2540000" cy="2921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5200" y="2032000"/>
            <a:ext cx="2540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000" y="2260600"/>
            <a:ext cx="218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3. Pick quantile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2768600"/>
            <a:ext cx="21844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Take the 90th-percentile of those scores → multiplier q.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9200" y="2032000"/>
            <a:ext cx="2540000" cy="2921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9200" y="2032000"/>
            <a:ext cx="2540000" cy="508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7000" y="2260600"/>
            <a:ext cx="218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A7A5A"/>
                </a:solidFill>
                <a:latin typeface="Playfair Display"/>
              </a:rPr>
              <a:t>Final interval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7000" y="2768600"/>
            <a:ext cx="21844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  Δĥ  ±  q · σ̂   ⟹  marginal coverage ≥ 90 %.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B2A47"/>
                </a:solidFill>
                <a:latin typeface="Playfair Display"/>
              </a:rPr>
              <a:t>Act V  · 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1000" y="3873500"/>
            <a:ext cx="1270000" cy="381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91000"/>
            <a:ext cx="1219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4A4A4A"/>
                </a:solidFill>
                <a:latin typeface="Source Sans Pro"/>
              </a:rPr>
              <a:t>Held-out performance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Headline Numbers — Held-Out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Pooled across both prediction algorithms with matched-segmenter; n = 397 rides.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2000"/>
            <a:ext cx="3556000" cy="1905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32000"/>
            <a:ext cx="3556000" cy="635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13000"/>
            <a:ext cx="3098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B5651D"/>
                </a:solidFill>
                <a:latin typeface="Playfair Display"/>
              </a:rPr>
              <a:t>89.4 %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036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B2A47"/>
                </a:solidFill>
                <a:latin typeface="Source Sans Pro"/>
              </a:rPr>
              <a:t>within ± 1.5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032000"/>
            <a:ext cx="3556000" cy="1905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8000" y="2032000"/>
            <a:ext cx="3556000" cy="635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413000"/>
            <a:ext cx="3098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3E5C76"/>
                </a:solidFill>
                <a:latin typeface="Playfair Display"/>
              </a:rPr>
              <a:t>1.49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34036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B2A47"/>
                </a:solidFill>
                <a:latin typeface="Source Sans Pro"/>
              </a:rPr>
              <a:t>MAE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8800" y="2032000"/>
            <a:ext cx="3556000" cy="1905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8800" y="2032000"/>
            <a:ext cx="3556000" cy="635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7400" y="2413000"/>
            <a:ext cx="3098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5A7A5A"/>
                </a:solidFill>
                <a:latin typeface="Playfair Display"/>
              </a:rPr>
              <a:t>0.30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7400" y="34036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B2A47"/>
                </a:solidFill>
                <a:latin typeface="Source Sans Pro"/>
              </a:rPr>
              <a:t>median |error|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18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By algorithm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228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530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4A4A"/>
                </a:solidFill>
                <a:latin typeface="Source Sans Pro"/>
              </a:rPr>
              <a:t>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0" y="49530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4A4A"/>
                </a:solidFill>
                <a:latin typeface="Source Sans Pro"/>
              </a:rPr>
              <a:t>median |error|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49530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4A4A"/>
                </a:solidFill>
                <a:latin typeface="Source Sans Pro"/>
              </a:rPr>
              <a:t>coverage @ 90 %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32400"/>
            <a:ext cx="10160000" cy="1270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448300"/>
            <a:ext cx="50800" cy="508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00" y="5334000"/>
            <a:ext cx="3937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7"/>
                </a:solidFill>
                <a:latin typeface="Source Sans Pro"/>
              </a:rPr>
              <a:t>ZUPT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6000" y="53340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E5C76"/>
                </a:solidFill>
                <a:latin typeface="Playfair Display"/>
              </a:rPr>
              <a:t>0.19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53340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E5C76"/>
                </a:solidFill>
                <a:latin typeface="Playfair Display"/>
              </a:rPr>
              <a:t>94.4 %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930900"/>
            <a:ext cx="50800" cy="508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000" y="5816600"/>
            <a:ext cx="3937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7"/>
                </a:solidFill>
                <a:latin typeface="Source Sans Pro"/>
              </a:rPr>
              <a:t>Trapezoid pulse-pair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6000" y="58166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A7A5A"/>
                </a:solidFill>
                <a:latin typeface="Playfair Display"/>
              </a:rPr>
              <a:t>0.29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58166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A7A5A"/>
                </a:solidFill>
                <a:latin typeface="Playfair Display"/>
              </a:rPr>
              <a:t>93.5 %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Predicted vs True Δh — 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22</a:t>
            </a:r>
          </a:p>
        </p:txBody>
      </p:sp>
      <p:pic>
        <p:nvPicPr>
          <p:cNvPr id="7" name="Picture 6" descr="p065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5334000" cy="5515214"/>
          </a:xfrm>
          <a:prstGeom prst="rect">
            <a:avLst/>
          </a:prstGeom>
        </p:spPr>
      </p:pic>
      <p:pic>
        <p:nvPicPr>
          <p:cNvPr id="8" name="Picture 7" descr="p065_i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1000"/>
            <a:ext cx="5334000" cy="55152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690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Source Sans Pro"/>
              </a:rPr>
              <a:t>ZUPT (left)  ·  Trapezoid pulse-pair (right). Closer to y = x is better.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Error CDFs — Where Each Algorithm Lives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23</a:t>
            </a:r>
          </a:p>
        </p:txBody>
      </p:sp>
      <p:pic>
        <p:nvPicPr>
          <p:cNvPr id="7" name="Picture 6" descr="p066_i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5334000" cy="2647950"/>
          </a:xfrm>
          <a:prstGeom prst="rect">
            <a:avLst/>
          </a:prstGeom>
        </p:spPr>
      </p:pic>
      <p:pic>
        <p:nvPicPr>
          <p:cNvPr id="8" name="Picture 7" descr="p066_i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1000"/>
            <a:ext cx="5334000" cy="2647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69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Source Sans Pro"/>
              </a:rPr>
              <a:t>CDF of |Δh − Δĥ| on train (left) and test (right). Median error stays sub-half-metre on test.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Per-Segment Confidence Intervals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24</a:t>
            </a:r>
          </a:p>
        </p:txBody>
      </p:sp>
      <p:pic>
        <p:nvPicPr>
          <p:cNvPr id="7" name="Picture 6" descr="p068_i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5334000" cy="5326380"/>
          </a:xfrm>
          <a:prstGeom prst="rect">
            <a:avLst/>
          </a:prstGeom>
        </p:spPr>
      </p:pic>
      <p:pic>
        <p:nvPicPr>
          <p:cNvPr id="8" name="Picture 7" descr="p068_i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1000"/>
            <a:ext cx="5334000" cy="53263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69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Source Sans Pro"/>
              </a:rPr>
              <a:t>Each ride: prediction ± 90 % CI plotted against true Δh. Bands widen on harder rides — exactly as designed.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Coverage and MAE by Ride 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25</a:t>
            </a:r>
          </a:p>
        </p:txBody>
      </p:sp>
      <p:pic>
        <p:nvPicPr>
          <p:cNvPr id="7" name="Picture 6" descr="p069_i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5334000" cy="2655570"/>
          </a:xfrm>
          <a:prstGeom prst="rect">
            <a:avLst/>
          </a:prstGeom>
        </p:spPr>
      </p:pic>
      <p:pic>
        <p:nvPicPr>
          <p:cNvPr id="8" name="Picture 7" descr="p069_i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1000"/>
            <a:ext cx="5334000" cy="26555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69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Source Sans Pro"/>
              </a:rPr>
              <a:t>Coverage holds at ≥ 90 % across short, medium, and tall rides. MAE scales sub-linearly with Δh.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B2A47"/>
                </a:solidFill>
                <a:latin typeface="Playfair Display"/>
              </a:rPr>
              <a:t>Act VI  · 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1000" y="3873500"/>
            <a:ext cx="1270000" cy="381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91000"/>
            <a:ext cx="1219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4A4A4A"/>
                </a:solidFill>
                <a:latin typeface="Source Sans Pro"/>
              </a:rPr>
              <a:t>From research to a deliverable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Boutique Pipeline — End-to-End in 5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26</a:t>
            </a:r>
          </a:p>
        </p:txBody>
      </p:sp>
      <p:pic>
        <p:nvPicPr>
          <p:cNvPr id="7" name="Picture 6" descr="p089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7112000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000" y="1651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Streamlit wizard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874000" y="19558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0" y="2209800"/>
            <a:ext cx="406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1.  Upload  —  drag &amp; drop session zips.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0" y="2616200"/>
            <a:ext cx="406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2.  Inspect  —  view raw signals + GT overlay.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3022600"/>
            <a:ext cx="406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3.  Segment  —  edit detected ride bounds.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3429000"/>
            <a:ext cx="406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4.  Predict  —  pick algorithm; see Δh + CI.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0" y="3835400"/>
            <a:ext cx="406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5.  Report  —  generate Hebrew PDF deliverable.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Step 3 — Segmentation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27</a:t>
            </a:r>
          </a:p>
        </p:txBody>
      </p:sp>
      <p:pic>
        <p:nvPicPr>
          <p:cNvPr id="7" name="Picture 6" descr="p090_i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651000"/>
            <a:ext cx="10414000" cy="6895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69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4A4A4A"/>
                </a:solidFill>
                <a:latin typeface="Source Sans Pro"/>
              </a:rPr>
              <a:t>Detected ride intervals are editable. The user accepts, splits, or deletes any candidate before prediction.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The Hebrew PDF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28</a:t>
            </a:r>
          </a:p>
        </p:txBody>
      </p:sp>
      <p:pic>
        <p:nvPicPr>
          <p:cNvPr id="7" name="Picture 6" descr="p096_i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1270000"/>
            <a:ext cx="3643086" cy="50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651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What it contains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55800"/>
            <a:ext cx="1016000" cy="190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114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22098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Per-elevator summary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24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25908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All rides with predicted Δh + 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734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29718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Quality flags for low-SNR rides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544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3528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Ground-truth overlay where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354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338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Hebrew RTL layout, A4 portrait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B2A47"/>
                </a:solidFill>
                <a:latin typeface="Playfair Display"/>
              </a:rPr>
              <a:t>Act VII  ·  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1000" y="3873500"/>
            <a:ext cx="1270000" cy="381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91000"/>
            <a:ext cx="1219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4A4A4A"/>
                </a:solidFill>
                <a:latin typeface="Source Sans Pro"/>
              </a:rPr>
              <a:t/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What We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Three takeaways from a year of riding elevators with phones in our pockets.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5000"/>
            <a:ext cx="3556000" cy="406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05000"/>
            <a:ext cx="3556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09800"/>
            <a:ext cx="3098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5651D"/>
                </a:solidFill>
                <a:latin typeface="Playfair Display"/>
              </a:rPr>
              <a:t>Physics first, ML second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24200"/>
            <a:ext cx="30988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A tight kinematic prior — the trapezoid template — beat black-box alternatives at every stage. Detection AND prediction.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1905000"/>
            <a:ext cx="3556000" cy="406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8000" y="1905000"/>
            <a:ext cx="3556000" cy="508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209800"/>
            <a:ext cx="3098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A7A5A"/>
                </a:solidFill>
                <a:latin typeface="Playfair Display"/>
              </a:rPr>
              <a:t>σ is a feature, not an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3124200"/>
            <a:ext cx="30988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Letting the model report its own uncertainty unlocked the quality filter, the CI, and downstream calibration.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8800" y="1905000"/>
            <a:ext cx="3556000" cy="406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8800" y="1905000"/>
            <a:ext cx="3556000" cy="508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7400" y="2209800"/>
            <a:ext cx="3098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A0382F"/>
                </a:solidFill>
                <a:latin typeface="Playfair Display"/>
              </a:rPr>
              <a:t>Cross-phone is the real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7400" y="3124200"/>
            <a:ext cx="30988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Numbers from a single phone are misleading. Four-phone simultaneous recording was decisive in catching biases.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40000"/>
            <a:ext cx="1219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1B2A47"/>
                </a:solidFill>
                <a:latin typeface="Playfair Display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873500"/>
            <a:ext cx="1524000" cy="381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 i="1">
                <a:solidFill>
                  <a:srgbClr val="3E5C76"/>
                </a:solidFill>
                <a:latin typeface="Playfair Display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42000"/>
            <a:ext cx="1219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  <a:latin typeface="Source Sans Pro"/>
              </a:rPr>
              <a:t>Eyal Yakir   ·   Uriya Cohen-Eliya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APPENDIX  · 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Detector Hyperparameter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Coarse grid → refine. Defaults chosen on the train fold; never re-tuned on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5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4A4A"/>
                </a:solidFill>
                <a:latin typeface="Source Sans Pro"/>
              </a:rPr>
              <a:t>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0" y="1905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4A4A"/>
                </a:solidFill>
                <a:latin typeface="Source Sans Pro"/>
              </a:rPr>
              <a:t>Search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0" y="19050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4A4A"/>
                </a:solidFill>
                <a:latin typeface="Source Sans Pro"/>
              </a:rPr>
              <a:t>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0" y="19050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4A4A"/>
                </a:solidFill>
                <a:latin typeface="Source Sans Pro"/>
              </a:rPr>
              <a:t>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09800"/>
            <a:ext cx="11226800" cy="1270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368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τ_r  ramp 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4000" y="23368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Source Sans Pro"/>
              </a:rPr>
              <a:t>0.5 – 1.5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0" y="23368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B5651D"/>
                </a:solidFill>
                <a:latin typeface="Playfair Display"/>
              </a:rPr>
              <a:t>0.9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23368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Ride dynamics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178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194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τ_p  plateau duration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000" y="28194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Source Sans Pro"/>
              </a:rPr>
              <a:t>0.0 – 6.0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0" y="28194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B5651D"/>
                </a:solidFill>
                <a:latin typeface="Playfair Display"/>
              </a:rPr>
              <a:t>1.5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6000" y="28194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Lobe length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004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02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a₀   plateau amplitude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000" y="3302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Source Sans Pro"/>
              </a:rPr>
              <a:t>0.4 – 1.4 m/s²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1000" y="33020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B5651D"/>
                </a:solidFill>
                <a:latin typeface="Playfair Display"/>
              </a:rPr>
              <a:t>0.9 m/s²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6000" y="33020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Cabin spec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830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846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τ_thr  detection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4000" y="37846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Source Sans Pro"/>
              </a:rPr>
              <a:t>2 – 6 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1000" y="37846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B5651D"/>
                </a:solidFill>
                <a:latin typeface="Playfair Display"/>
              </a:rPr>
              <a:t>3 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6000" y="37846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Adaptive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656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672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Δt_pair  pair gap window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4000" y="42672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Source Sans Pro"/>
              </a:rPr>
              <a:t>0.5 – 30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1000" y="42672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B5651D"/>
                </a:solidFill>
                <a:latin typeface="Playfair Display"/>
              </a:rPr>
              <a:t>auto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6000" y="42672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Per-ride bound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482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APPENDIX  · 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Per-Experiment Detection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Detection metrics by building. Beit Yitzchaki is the held-out test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5000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4A4A"/>
                </a:solidFill>
                <a:latin typeface="Source Sans Pro"/>
              </a:rPr>
              <a:t>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19050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A4A4A"/>
                </a:solidFill>
                <a:latin typeface="Source Sans Pro"/>
              </a:rPr>
              <a:t>F1*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0" y="1905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A4A4A"/>
                </a:solidFill>
                <a:latin typeface="Source Sans Pro"/>
              </a:rPr>
              <a:t>IoU-F1 @ 0.5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09800"/>
            <a:ext cx="11226800" cy="1270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368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Millenium Hotel — 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23368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23368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0.69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178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194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Millenium — Outside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28194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28194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0.61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020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Acro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33020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3302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830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846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Beit Mansour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0" y="37846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0" y="37846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0.68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56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672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BarIlan-2  (Herzliya)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0" y="42672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0" y="42672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82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498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Haari  (Ramat Gan)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0" y="47498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0" y="47498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B5651D"/>
                </a:solidFill>
                <a:latin typeface="Playfair Display"/>
              </a:rPr>
              <a:t>0.64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308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181600"/>
            <a:ext cx="11226800" cy="4572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324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7"/>
                </a:solidFill>
                <a:latin typeface="Source Sans Pro"/>
              </a:rPr>
              <a:t>Beit Yitzchaki  (HOLD-OUT)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0" y="5232400"/>
            <a:ext cx="177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1">
                <a:solidFill>
                  <a:srgbClr val="5A7A5A"/>
                </a:solidFill>
                <a:latin typeface="Playfair Display"/>
              </a:rPr>
              <a:t>0.875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0" y="52324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1">
                <a:solidFill>
                  <a:srgbClr val="5A7A5A"/>
                </a:solidFill>
                <a:latin typeface="Playfair Display"/>
              </a:rPr>
              <a:t>0.830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13400"/>
            <a:ext cx="11226800" cy="6350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APPENDIX  · 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Trapezoid σ — CRB Derivation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We derive a Cramer-Rao lower bound on σ_Δh given the trapezoid Jacobian and white sensor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2000"/>
            <a:ext cx="11226800" cy="406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32000"/>
            <a:ext cx="50800" cy="40640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286000"/>
            <a:ext cx="1041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2A47"/>
                </a:solidFill>
                <a:latin typeface="Playfair Display"/>
              </a:rPr>
              <a:t>y(t)  =  T(t; θ) + ε(t),    ε ~ N(0, σ_a² 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1041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2A47"/>
                </a:solidFill>
                <a:latin typeface="Playfair Display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048000"/>
            <a:ext cx="1041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2A47"/>
                </a:solidFill>
                <a:latin typeface="Playfair Display"/>
              </a:rPr>
              <a:t>I(θ)  =  (1/σ_a²) · J(θ)ᵀ J(θ)            Fisher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429000"/>
            <a:ext cx="1041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2A47"/>
                </a:solidFill>
                <a:latin typeface="Playfair Display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810000"/>
            <a:ext cx="1041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2A47"/>
                </a:solidFill>
                <a:latin typeface="Playfair Display"/>
              </a:rPr>
              <a:t>Cov(θ̂)  ≥  I⁻¹(θ)                            Cramer-Rao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191000"/>
            <a:ext cx="1041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2A47"/>
                </a:solidFill>
                <a:latin typeface="Playfair Display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572000"/>
            <a:ext cx="1041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2A47"/>
                </a:solidFill>
                <a:latin typeface="Playfair Display"/>
              </a:rPr>
              <a:t>σ_Δh²  =  ∇_θ Δh ᵀ · I⁻¹(θ) · ∇_θ Δh        delta-method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953000"/>
            <a:ext cx="1041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2A47"/>
                </a:solidFill>
                <a:latin typeface="Playfair Display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334000"/>
            <a:ext cx="1041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2A47"/>
                </a:solidFill>
                <a:latin typeface="Playfair Display"/>
              </a:rPr>
              <a:t>with    ∇_θ Δh = ( τ_p(τ_r+τ_p),  a₀ τ_p,  a₀(τ_r + 2τ_p) 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APPENDIX  · 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ZUPT — Noise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Three error sources dominate ZUPT estimates. Each scales differently with ride duration 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5000"/>
            <a:ext cx="3556000" cy="3683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05000"/>
            <a:ext cx="3556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336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Sensor white noise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67000"/>
            <a:ext cx="3098800" cy="635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2819400"/>
            <a:ext cx="2946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1B2A47"/>
                </a:solidFill>
                <a:latin typeface="Playfair Display"/>
              </a:rPr>
              <a:t>σ_h  ∝  σ_a · T^{1.5} / √(N)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56000"/>
            <a:ext cx="30988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Reduced by sampling rate ↑ and stationary calibration.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0" y="1905000"/>
            <a:ext cx="3556000" cy="3683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8000" y="1905000"/>
            <a:ext cx="3556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6600" y="21336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Gravity bias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6600" y="2667000"/>
            <a:ext cx="3098800" cy="635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2800" y="2819400"/>
            <a:ext cx="2946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1B2A47"/>
                </a:solidFill>
                <a:latin typeface="Playfair Display"/>
              </a:rPr>
              <a:t>σ_h  ∝  Δg · T²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3556000"/>
            <a:ext cx="30988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Worst at long rides. Mitigated by per-ride gravity estimate.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8800" y="1905000"/>
            <a:ext cx="3556000" cy="3683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8800" y="1905000"/>
            <a:ext cx="3556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7400" y="21336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Playfair Display"/>
              </a:rPr>
              <a:t>Tilt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7400" y="2667000"/>
            <a:ext cx="3098800" cy="635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3600" y="2819400"/>
            <a:ext cx="2946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1B2A47"/>
                </a:solidFill>
                <a:latin typeface="Playfair Display"/>
              </a:rPr>
              <a:t>σ_h  ∝  sin(δθ) · g · T²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7400" y="3556000"/>
            <a:ext cx="30988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Source Sans Pro"/>
              </a:rPr>
              <a:t>Mitigated by long stationary windows; pocket motion remains a risk.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APPENDIX  · 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Ground-Truth Audit — Four-Phone Cross-Check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Each ride is recorded by four phones simultaneously. We use the cross-phone disagreement as a GT noise floor.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2000"/>
            <a:ext cx="3556000" cy="1651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32000"/>
            <a:ext cx="35560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11400"/>
            <a:ext cx="3098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B5651D"/>
                </a:solidFill>
                <a:latin typeface="Playfair Display"/>
              </a:rPr>
              <a:t>0.08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750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median cross-phone 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032000"/>
            <a:ext cx="3556000" cy="1651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8000" y="2032000"/>
            <a:ext cx="3556000" cy="50800"/>
          </a:xfrm>
          <a:prstGeom prst="rect">
            <a:avLst/>
          </a:prstGeom>
          <a:solidFill>
            <a:srgbClr val="5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11400"/>
            <a:ext cx="3098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5A7A5A"/>
                </a:solidFill>
                <a:latin typeface="Playfair Display"/>
              </a:rPr>
              <a:t>99.2 %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31750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rides agree within ±0.5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8800" y="2032000"/>
            <a:ext cx="3556000" cy="1651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8800" y="2032000"/>
            <a:ext cx="3556000" cy="50800"/>
          </a:xfrm>
          <a:prstGeom prst="rect">
            <a:avLst/>
          </a:prstGeom>
          <a:solidFill>
            <a:srgbClr val="A0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7400" y="2311400"/>
            <a:ext cx="3098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A0382F"/>
                </a:solidFill>
                <a:latin typeface="Playfair Display"/>
              </a:rPr>
              <a:t>12 / 397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7400" y="31750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Source Sans Pro"/>
              </a:rPr>
              <a:t>manual edits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4000"/>
            <a:ext cx="11176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7"/>
                </a:solidFill>
                <a:latin typeface="Source Sans Pro"/>
              </a:rPr>
              <a:t>Where the barometer agrees with the trapezoid+ZUPT cross-check across all four phones, we trust the GT to ±10 cm. The handful of edits address PRS dropouts.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APPENDIX  · 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Worst-Prediction 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36</a:t>
            </a:r>
          </a:p>
        </p:txBody>
      </p:sp>
      <p:pic>
        <p:nvPicPr>
          <p:cNvPr id="7" name="Picture 6" descr="p072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1000"/>
            <a:ext cx="5334000" cy="2884170"/>
          </a:xfrm>
          <a:prstGeom prst="rect">
            <a:avLst/>
          </a:prstGeom>
        </p:spPr>
      </p:pic>
      <p:pic>
        <p:nvPicPr>
          <p:cNvPr id="8" name="Picture 7" descr="p073_i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1000"/>
            <a:ext cx="5334000" cy="3249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69000"/>
            <a:ext cx="1117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4A4A4A"/>
                </a:solidFill>
                <a:latin typeface="Source Sans Pro"/>
              </a:rPr>
              <a:t>Two failure cases. Left: short ride with overlapping lobes. Right: pocket reorient mid-ride.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525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Source Sans Pro"/>
              </a:rPr>
              <a:t>APPENDIX  · 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000"/>
            <a:ext cx="11176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7"/>
                </a:solidFill>
                <a:latin typeface="Playfair Display"/>
              </a:rPr>
              <a:t>Architecture / File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Source Sans Pro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1117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E5C76"/>
                </a:solidFill>
                <a:latin typeface="Source Sans Pro"/>
              </a:rPr>
              <a:t>Two-stage pipeline; each stage is a Pydantic-configured dispatcher.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066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19050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onsolas"/>
              </a:rPr>
              <a:t>src/segmentation/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0" y="190500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Stage 1 — Segmenter dispatcher; two algorithms (matched-filter, pressure-filter).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54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24638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onsolas"/>
              </a:rPr>
              <a:t>src/prediction/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0" y="246380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Stage 2 — Predictor dispatcher; three algorithms (barometer, ZUPT, trapezoid).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242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30226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onsolas"/>
              </a:rPr>
              <a:t>src/utils/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0" y="302260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Stage-agnostic helpers — gravity removal, conformal calibrator, pulse fits.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830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5814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onsolas"/>
              </a:rPr>
              <a:t>src/data/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000" y="358140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Loaders, GT editor, dataset definitions.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418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41402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onsolas"/>
              </a:rPr>
              <a:t>src/pipelines/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4000" y="414020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End-to-end Streamlit Boutique Pipeline.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00600"/>
            <a:ext cx="50800" cy="50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" y="46990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onsolas"/>
              </a:rPr>
              <a:t>docs/latex/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4000" y="469900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7"/>
                </a:solidFill>
                <a:latin typeface="Source Sans Pro"/>
              </a:rPr>
              <a:t>This report; LaTeX source + figures.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